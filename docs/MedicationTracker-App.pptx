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4630400" cy="8229600"/>
  <p:notesSz cx="8229600" cy="14630400"/>
  <p:embeddedFontLst>
    <p:embeddedFont>
      <p:font typeface="Alexandria" charset="0"/>
      <p:regular r:id="rId20"/>
      <p:regular r:id="rId21"/>
    </p:embeddedFont>
    <p:embeddedFont>
      <p:font typeface="Nobile" charset="0"/>
      <p:regular r:id="rId22"/>
      <p:regular r:id="rId23"/>
      <p:regular r:id="rId24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y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1T13:41:01.147" idx="1">
    <p:pos x="2891" y="2714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1.xml"/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docs.google.com/document/d/1pkBZBQLSofYbh0xR6scv2Yr3jOT7H9D4f6OZL7yur54/edit?tab=t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4525"/>
            <a:ext cx="660249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MedicationTracker-App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13465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Aplicação móvel para monitoramento de medicação desenvolvida na Universidade São Tomás de Moçambique. Projetada para auxiliar pessoas doentes, idosos e cuidadores no gerenciamento correto de medicamentos.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25072"/>
            <a:ext cx="7072551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Introdução e Justificativa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740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260" y="261651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265187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Objetivo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3142298"/>
            <a:ext cx="2899410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Auxiliar pessoas doentes e cuidadores no gerenciamento correto da medicação.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200203" y="25740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274" y="2616518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37319" y="265187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Justificativa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937319" y="3142298"/>
            <a:ext cx="2899410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Adesão ao tratamento é um desafio para pessoas doentes, principalmente idosos com múltiplas prescrições.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54104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5452943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548830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Escopo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5978723"/>
            <a:ext cx="68193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Aplicativo móvel para Android com fácil usabilidade e acessibilidade.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8680"/>
            <a:ext cx="613874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Descricao do projecto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81087"/>
            <a:ext cx="13042821" cy="1814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</a:t>
            </a:r>
            <a:r>
              <a:rPr lang="en-US" sz="2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MedicationTracker</a:t>
            </a: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é um aplicativo mobile desenvolvido em Flutter com o objetivo de </a:t>
            </a:r>
            <a:r>
              <a:rPr lang="en-US" sz="2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auxiliar pacientes no controle de seus medicamentos</a:t>
            </a: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garantindo maior adesão ao tratamento. A plataforma também permite que </a:t>
            </a:r>
            <a:r>
              <a:rPr lang="en-US" sz="2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cuidadores acompanhem e auxiliem remotamente os pacientes</a:t>
            </a: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promovendo segurança, autonomia e bem-estar.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5050274"/>
            <a:ext cx="13042821" cy="13605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solução foi pensada para cenários reais do dia a dia: pessoas doentes que precisam de lembretes e registros organizados de ingestao de medicamentos, e familiares ou cuidadores que desejam participar ativamente desse acompanhamento.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891" y="514112"/>
            <a:ext cx="9908977" cy="5916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🩺</a:t>
            </a:r>
            <a:r>
              <a:rPr lang="en-US" sz="3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</a:t>
            </a:r>
            <a:r>
              <a:rPr lang="en-US" sz="365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 dor que o MedicationTracker resolve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3891" y="1479352"/>
            <a:ext cx="13322618" cy="7474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Milhões de pessoas enfrentam dificuldades para manter a regularidade no uso de medicamentos — seja por esquecimento, falta de acompanhamento ou pela complexidade dos tratamentos.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3891" y="2436971"/>
            <a:ext cx="13322618" cy="7474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Além disso, familiares e cuidadores têm pouca visibilidade sobre </a:t>
            </a:r>
            <a:r>
              <a:rPr lang="en-US" sz="18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o paciente está tomando corretamente seus remédios</a:t>
            </a: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ou se está </a:t>
            </a:r>
            <a:r>
              <a:rPr lang="en-US" sz="18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 risco por esquecimento</a:t>
            </a: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3891" y="3394591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Esses problemas podem gerar: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3891" y="3978473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Falhas no tratamento e agravamento do quadro clínico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3891" y="4417576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Reinternações evitáveis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3891" y="4856678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Ansiedade e sobrecarga emocional para cuidadores e familiares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891" y="5440561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MedicationTracker resolve isso com: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891" y="6024443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Lembretes automáticos e inteligentes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891" y="6463546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SzPct val="100000"/>
              <a:buNone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Histórico detalhado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ingestão de medicamentos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891" y="6902648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Acompanhamento remoto por cuidadores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891" y="7341751"/>
            <a:ext cx="13322618" cy="37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Notificações claras e integração entre perfis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7512"/>
            <a:ext cx="613302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Requisitos Funcionais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048941" y="2096453"/>
            <a:ext cx="30480" cy="5085636"/>
          </a:xfrm>
          <a:prstGeom prst="roundRect">
            <a:avLst>
              <a:gd name="adj" fmla="val 312558"/>
            </a:avLst>
          </a:prstGeom>
          <a:solidFill>
            <a:srgbClr val="B8C3DF"/>
          </a:solidFill>
        </p:spPr>
      </p:sp>
      <p:sp>
        <p:nvSpPr>
          <p:cNvPr id="4" name="Shape 2"/>
          <p:cNvSpPr/>
          <p:nvPr/>
        </p:nvSpPr>
        <p:spPr>
          <a:xfrm>
            <a:off x="1273612" y="233636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</p:spPr>
      </p:sp>
      <p:sp>
        <p:nvSpPr>
          <p:cNvPr id="5" name="Shape 3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2138958"/>
            <a:ext cx="340162" cy="4252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83011" y="217431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Cadastro e Perfis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83011" y="2664738"/>
            <a:ext cx="116535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Criação de contas e vinculação de cuidadores ao perfil do paciente.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273612" y="372117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</p:spPr>
      </p:sp>
      <p:sp>
        <p:nvSpPr>
          <p:cNvPr id="10" name="Shape 7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3523774"/>
            <a:ext cx="340162" cy="4252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83011" y="3559135"/>
            <a:ext cx="358378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Gestão de Medicamentos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183011" y="4049554"/>
            <a:ext cx="116535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Cadastro, edição e exclusão de medicamentos com detalhes completos.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1273612" y="510599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</p:spPr>
      </p:sp>
      <p:sp>
        <p:nvSpPr>
          <p:cNvPr id="15" name="Shape 11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4908590"/>
            <a:ext cx="340162" cy="4252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83011" y="4943951"/>
            <a:ext cx="376094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Lembretes e Confirmações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183011" y="5434370"/>
            <a:ext cx="116535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Notificações personalizadas e confirmação de ingestão.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1273612" y="649081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</p:spPr>
      </p:sp>
      <p:sp>
        <p:nvSpPr>
          <p:cNvPr id="20" name="Shape 15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6293406"/>
            <a:ext cx="340162" cy="4252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83011" y="6328767"/>
            <a:ext cx="298561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Histórico e Relatórios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2183011" y="6819186"/>
            <a:ext cx="116535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Armazenamento de registros e geração de relatórios exportáveis.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2919" y="734497"/>
            <a:ext cx="6793706" cy="6486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Requisitos Não Funcionais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12919" y="1694498"/>
            <a:ext cx="7690961" cy="1211461"/>
          </a:xfrm>
          <a:prstGeom prst="roundRect">
            <a:avLst>
              <a:gd name="adj" fmla="val 719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8065" y="1909643"/>
            <a:ext cx="2594967" cy="324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Compatibilidade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28065" y="2358628"/>
            <a:ext cx="7260669" cy="3321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Compatível com versões recentes de Android e iOS.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2919" y="3113484"/>
            <a:ext cx="7690961" cy="1543645"/>
          </a:xfrm>
          <a:prstGeom prst="roundRect">
            <a:avLst>
              <a:gd name="adj" fmla="val 564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8065" y="3328630"/>
            <a:ext cx="2594967" cy="324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Acessibilidade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28065" y="3777615"/>
            <a:ext cx="7260669" cy="6643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Interface com alto contraste, fontes ampliadas e suporte a leitores de tela.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2919" y="4864656"/>
            <a:ext cx="7690961" cy="1211461"/>
          </a:xfrm>
          <a:prstGeom prst="roundRect">
            <a:avLst>
              <a:gd name="adj" fmla="val 719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8065" y="5079802"/>
            <a:ext cx="2594967" cy="324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Segurança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28065" y="5528786"/>
            <a:ext cx="7260669" cy="3321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Armazenamento seguro conforme LGPD.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2919" y="6283643"/>
            <a:ext cx="7690961" cy="1211461"/>
          </a:xfrm>
          <a:prstGeom prst="roundRect">
            <a:avLst>
              <a:gd name="adj" fmla="val 719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065" y="6498788"/>
            <a:ext cx="2594967" cy="324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Desempenho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28065" y="6947773"/>
            <a:ext cx="7260669" cy="3321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Tempo de resposta inferior a 2 segundos e baixo consumo de recursos.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9403"/>
            <a:ext cx="670619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Modelagem do Sistema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38343"/>
            <a:ext cx="13042821" cy="3401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Nesta seção, apresentamos a modelagem lógica que define a estrutura de dados responsável por sustentar o funcionamento do aplicativo. Essa modelagem foi cuidadosamente elaborada para garantir coerência, integridade e escalabilidade, refletindo os principais fluxos da plataforma.</a:t>
            </a:r>
            <a:endParaRPr lang="en-US" sz="3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730" y="398145"/>
            <a:ext cx="7623810" cy="452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Diagrama de Entidade e Relacionamentos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30" y="1140143"/>
            <a:ext cx="13616940" cy="89394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779" y="409099"/>
            <a:ext cx="5008364" cy="4650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Diagrama de Casos de Uso 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0779" y="1097280"/>
            <a:ext cx="2976086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Atores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0779" y="1692473"/>
            <a:ext cx="13588841" cy="59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
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● </a:t>
            </a: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Usuário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(Paciente ou Cuidador)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20779" y="2454950"/>
            <a:ext cx="13588841" cy="297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● Administrador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20779" y="2975610"/>
            <a:ext cx="2976086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Casos de usos</a:t>
            </a:r>
            <a:endParaRPr lang="en-US" sz="2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0" y="4480084"/>
            <a:ext cx="8153281" cy="815328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12" y="7229594"/>
            <a:ext cx="251103" cy="31384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4480084"/>
            <a:ext cx="8153281" cy="815328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324" y="5574983"/>
            <a:ext cx="251103" cy="313849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4480084"/>
            <a:ext cx="8153281" cy="815328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9497" y="5574983"/>
            <a:ext cx="251103" cy="313849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4480084"/>
            <a:ext cx="8153281" cy="8153281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4109" y="7229594"/>
            <a:ext cx="251103" cy="313849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205627" y="4894540"/>
            <a:ext cx="1859994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Perfil</a:t>
            </a:r>
            <a:endParaRPr lang="en-US" sz="1450" dirty="0"/>
          </a:p>
        </p:txBody>
      </p:sp>
      <p:sp>
        <p:nvSpPr>
          <p:cNvPr id="16" name="Text 6"/>
          <p:cNvSpPr/>
          <p:nvPr/>
        </p:nvSpPr>
        <p:spPr>
          <a:xfrm>
            <a:off x="520779" y="5216128"/>
            <a:ext cx="3229808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Criar conta, autenticar, selecionar tipo de perfil e editar perfil.</a:t>
            </a:r>
            <a:endParaRPr lang="en-US" sz="1150" dirty="0"/>
          </a:p>
        </p:txBody>
      </p:sp>
      <p:sp>
        <p:nvSpPr>
          <p:cNvPr id="17" name="Text 7"/>
          <p:cNvSpPr/>
          <p:nvPr/>
        </p:nvSpPr>
        <p:spPr>
          <a:xfrm>
            <a:off x="4658678" y="3570803"/>
            <a:ext cx="1859994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Conexões</a:t>
            </a:r>
            <a:endParaRPr lang="en-US" sz="1450" dirty="0"/>
          </a:p>
        </p:txBody>
      </p:sp>
      <p:sp>
        <p:nvSpPr>
          <p:cNvPr id="18" name="Text 8"/>
          <p:cNvSpPr/>
          <p:nvPr/>
        </p:nvSpPr>
        <p:spPr>
          <a:xfrm>
            <a:off x="3973711" y="3892391"/>
            <a:ext cx="3229928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Enviar convite e aceitar/recusar convite de cuidador.</a:t>
            </a:r>
            <a:endParaRPr lang="en-US" sz="1150" dirty="0"/>
          </a:p>
        </p:txBody>
      </p:sp>
      <p:sp>
        <p:nvSpPr>
          <p:cNvPr id="19" name="Text 9"/>
          <p:cNvSpPr/>
          <p:nvPr/>
        </p:nvSpPr>
        <p:spPr>
          <a:xfrm>
            <a:off x="8111609" y="3808928"/>
            <a:ext cx="1859994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Medicamentos</a:t>
            </a:r>
            <a:endParaRPr lang="en-US" sz="1450" dirty="0"/>
          </a:p>
        </p:txBody>
      </p:sp>
      <p:sp>
        <p:nvSpPr>
          <p:cNvPr id="20" name="Text 10"/>
          <p:cNvSpPr/>
          <p:nvPr/>
        </p:nvSpPr>
        <p:spPr>
          <a:xfrm>
            <a:off x="7587377" y="4130516"/>
            <a:ext cx="2908578" cy="2381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Cadastrar medicamento e criar lembrete.</a:t>
            </a:r>
            <a:endParaRPr lang="en-US" sz="1150" dirty="0"/>
          </a:p>
        </p:txBody>
      </p:sp>
      <p:sp>
        <p:nvSpPr>
          <p:cNvPr id="21" name="Text 11"/>
          <p:cNvSpPr/>
          <p:nvPr/>
        </p:nvSpPr>
        <p:spPr>
          <a:xfrm>
            <a:off x="11564660" y="4894540"/>
            <a:ext cx="1859994" cy="232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Monitoramento</a:t>
            </a:r>
            <a:endParaRPr lang="en-US" sz="1450" dirty="0"/>
          </a:p>
        </p:txBody>
      </p:sp>
      <p:sp>
        <p:nvSpPr>
          <p:cNvPr id="22" name="Text 12"/>
          <p:cNvSpPr/>
          <p:nvPr/>
        </p:nvSpPr>
        <p:spPr>
          <a:xfrm>
            <a:off x="10879693" y="5216128"/>
            <a:ext cx="3229928" cy="476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Confirmar ingestão, receber notificações e gerar relatórios.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098" y="466725"/>
            <a:ext cx="4282440" cy="5287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Diagrama de classes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98" y="1333857"/>
            <a:ext cx="9726097" cy="64290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424" y="420648"/>
            <a:ext cx="9750862" cy="478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Arquitetura Geral do Sistema – MedicationTracker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5424" y="1204793"/>
            <a:ext cx="13559552" cy="6611779"/>
          </a:xfrm>
          <a:prstGeom prst="roundRect">
            <a:avLst>
              <a:gd name="adj" fmla="val 97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3044" y="1212413"/>
            <a:ext cx="13544312" cy="43779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96039" y="1311831"/>
            <a:ext cx="2617708" cy="2389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1. Aplicativo Mobile (Flutter)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72005" y="1311831"/>
            <a:ext cx="2168009" cy="2389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2. Painel Web (Admin)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3044" y="1650206"/>
            <a:ext cx="13544312" cy="3059311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96039" y="1703665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SzPct val="100000"/>
              <a:buNone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Plataforma: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Flutter (Android/iOS)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6039" y="1994297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SzPct val="100000"/>
              <a:buNone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Padrão: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MVVM + Clean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6039" y="2284928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SzPct val="100000"/>
              <a:buNone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Gerenciamento de Estado: Provider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6039" y="2575560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Funções: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6039" y="2866192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Cadastro e login de usuários (paciente/cuidador)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6039" y="3156823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Gerenciamento de perfis e medicamentos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6039" y="3447455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Notificações e lembretes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6039" y="3738086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Registro de ingestões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6039" y="4028718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Compartilhamento de relatórios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6039" y="4365308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2005" y="1703665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SzPct val="100000"/>
              <a:buNone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Plataforma: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Web (React, Next.js)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72005" y="1994297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Função: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72005" y="2284928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Gerenciamento de usuários e perfis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72005" y="2575560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Visualização de estatísticas globais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2005" y="2866192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Administração de convites e acesso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3044" y="4709517"/>
            <a:ext cx="13544312" cy="3099435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96039" y="4808934"/>
            <a:ext cx="1912501" cy="2389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3. API / Backend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6039" y="5139690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6039" y="5476280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SzPct val="100000"/>
              <a:buNone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Tecnologia: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Firebase, Node.js (Fastify)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6039" y="5766911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SzPct val="100000"/>
              <a:buNone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Padrão: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REST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6039" y="6057543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Responsabilidades: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6039" y="6348174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Autenticação e autorização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6039" y="6638806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Lógica de convites, vínculo cuidador-paciente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6039" y="6929438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Gestão de medicamentos, lembretes, históricos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6039" y="7220069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Geração e entrega de relatórios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6039" y="7510701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Exposição de endpoints para app e web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72005" y="4808934"/>
            <a:ext cx="1912501" cy="2389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4. Banco de Dados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72005" y="5139690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72005" y="5476280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SzPct val="100000"/>
              <a:buNone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Tipo: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Firestore, Relacional (PostgreSQL)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72005" y="5766911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SzPct val="100000"/>
              <a:buNone/>
            </a:pPr>
            <a:r>
              <a:rPr lang="en-US" sz="12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Modelo: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Normalizado, com as entidades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72005" y="6057543"/>
            <a:ext cx="6462355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DrizzleOrm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action="ppaction://hlinkfile"/>
          </p:cNvPr>
          <p:cNvSpPr/>
          <p:nvPr/>
        </p:nvSpPr>
        <p:spPr>
          <a:xfrm>
            <a:off x="793790" y="2473285"/>
            <a:ext cx="827222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Prototipo da aplicacao (Telas)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5693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Para ver o liml das telas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74952"/>
            <a:ext cx="5670590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u="sng" dirty="0">
                <a:solidFill>
                  <a:srgbClr val="1B54DA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  <a:hlinkClick r:id="rId1" action="ppaction://hlinkfile"/>
              </a:rPr>
              <a:t>CLIQUE AQUI</a:t>
            </a: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
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4148</Words>
  <Application>WPS Presentation</Application>
  <PresentationFormat>On-screen Show (16:9)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SimSun</vt:lpstr>
      <vt:lpstr>Wingdings</vt:lpstr>
      <vt:lpstr>Alexandria</vt:lpstr>
      <vt:lpstr>C059</vt:lpstr>
      <vt:lpstr>Alexandria</vt:lpstr>
      <vt:lpstr>Alexandria</vt:lpstr>
      <vt:lpstr>Nobile</vt:lpstr>
      <vt:lpstr>Nobile</vt:lpstr>
      <vt:lpstr>Nobile</vt:lpstr>
      <vt:lpstr>Calibri</vt:lpstr>
      <vt:lpstr>Trebuchet MS</vt:lpstr>
      <vt:lpstr>Microsoft YaHei</vt:lpstr>
      <vt:lpstr>Droid Sans Fallback</vt:lpstr>
      <vt:lpstr>Arial Unicode MS</vt:lpstr>
      <vt:lpstr>Noto Sans Symbols2</vt:lpstr>
      <vt:lpstr>AR PL UKai CN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tony</cp:lastModifiedBy>
  <cp:revision>4</cp:revision>
  <dcterms:created xsi:type="dcterms:W3CDTF">2025-05-04T21:41:20Z</dcterms:created>
  <dcterms:modified xsi:type="dcterms:W3CDTF">2025-05-04T21:41:20Z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